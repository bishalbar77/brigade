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0" r:id="rId7"/>
    <p:sldId id="261" r:id="rId8"/>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howGuides="1">
      <p:cViewPr varScale="1">
        <p:scale>
          <a:sx n="78" d="100"/>
          <a:sy n="78" d="100"/>
        </p:scale>
        <p:origin x="-1536" y="-8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overview — a printed menu is a promise the kitchen may not be able to keep. Stock is counted on paper, so the menu and the pantry disagree all evening.</a:t>
            </a:r>
          </a:p>
          <a:p/>
          <a:p>
            <a:r>
              <a:t>Who is affected — the diner who orders a dish that is gone; the cook who finds out at zero; the owner who cannot say which dishes earn their place.</a:t>
            </a:r>
          </a:p>
          <a:p/>
          <a:p>
            <a:r>
              <a:t>Current challenges — availability is asked for verbally and is stale by the time it is answered. Two tables can be sold the same last portion. Walk-ins are quoted a wait the host invented. The kitchen learns a dish is finished at the one moment nothing can be done about it.</a:t>
            </a:r>
          </a:p>
          <a:p/>
          <a:p>
            <a:r>
              <a:t>Limitations of existing solutions — Toast and Square ALREADY deplete stock from recipes and auto-86 a dish, so that is table stakes rather than innovation. Two gaps remain: the computed number never reaches the guest, and everything is reactive. Nothing tells the kitchen at 18:00 that a dish will run out at 20:40.</a:t>
            </a:r>
          </a:p>
          <a:p/>
          <a:p>
            <a:r>
              <a:t>Real-world impact — restaurants waste 4–10% of purchased food inventory. Food cost runs 28–32% of revenue, and 52% of operators now rank it their top profitability challenge, ahead of labour for the first time since 2019.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overview — Brigade computes RUNWAY: the minutes until each dish 86s at tonight's actual sell rate. One number, derived from data the restaurant already has, driving four surfaces at once.</a:t>
            </a:r>
          </a:p>
          <a:p/>
          <a:p>
            <a:r>
              <a:t>How it works — portions = min over the recipe of floor(stock ÷ qty), so the binding ingredient decides: six steaks and one lemon is one steak dish. runway = portions ÷ EWMA sell rate for this weekday and daypart.</a:t>
            </a:r>
          </a:p>
          <a:p/>
          <a:p>
            <a:r>
              <a:t>Key features — live guest menu with real portion counts; atomic ordering that cannot oversell the last portion; kitchen docket wall split by station; runway board naming the constraining ingredient; walk-in quotes from real median turn times; reorder prediction; Kasavana–Smith menu engineering.</a:t>
            </a:r>
          </a:p>
          <a:p/>
          <a:p>
            <a:r>
              <a:t>What makes it different — availability reaches the DINER, not just the till. And scarcity is PREDICTED rather than reported: the board says "86s ~19:46, because you have 0.55kg of prawns" — information a chef can act on in five minutes.</a:t>
            </a:r>
          </a:p>
          <a:p/>
          <a:p>
            <a:r>
              <a:t>Unique value — the constraint becomes a lever. Knowing what will run out, and when, turns a shortage into a decision: prep more, steer demand, or reprice, while there is still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Technologies — Next.js 15 App Router, TypeScript, Supabase (Postgres, Auth, Realtime, Row Level Security), Tailwind v4, Recharts, Vercel. One deployable: route handlers are the API, and they run on Node, so there is no separate Express service.</a:t>
            </a:r>
          </a:p>
          <a:p/>
          <a:p>
            <a:r>
              <a:t>Four decisions that shape everything — availability is COMPUTED, never stored, so there is no is_available column to drift. Stock is an append-only LEDGER and stock_qty is a projection of it. Authorization is 43 RLS policies, not UI conditionals. Money is integer paise, never floats.</a:t>
            </a:r>
          </a:p>
          <a:p/>
          <a:p>
            <a:r>
              <a:t>The hard part — place_order() locks the affected ingredient rows FOR UPDATE ordered by id, a deterministic order so concurrent orders cannot deadlock; re-checks availability inside the transaction; aggregates demand per ingredient across the whole order; then writes items and ledger, or raises a typed error. Two guests tapping for the last portion: exactly one succeeds.</a:t>
            </a:r>
          </a:p>
          <a:p/>
          <a:p>
            <a:r>
              <a:t>On AI — no LLM in the product, by decision. The intelligence layer is deterministic statistics: EWMA forecasting, reorder points, Kasavana–Smith, cosine-similarity recommendations. Auditable, reproducible, and it cannot fail on a rate limit mid-demo. AI wrote the code, which is the point of a vibecoding hackathon.</a:t>
            </a:r>
          </a:p>
          <a:p/>
          <a:p>
            <a:r>
              <a:t>HOW WE KNOW IT WORKS — one command, npm run check, asks seven questions each phrased the way a non-technical person would, because a green tick nobody can interpret is not a check. It runs 70 unit tests on the runway engine; 27 assertions against a throwaway Postgres that applies every migration and patch twice; 21 end-to-end blocks holding 120 assertions that drive the real HTTP API as the ten seeded people; and times 11 routes, failing over 5s.</a:t>
            </a:r>
          </a:p>
          <a:p/>
          <a:p>
            <a:r>
              <a:t>Testing the interface — 22 of those 120 assertions read the RENDERED HTML rather than an API response: that every runway gauge carries a spoken label and that the spoken text AGREES with what is on screen; that the phone header collapses but never hides the cart; that buttons declare aria-busy instead of just going grey; that both shells show a skeleton while a page renders; that the spinner has a reduced-motion form so it cannot freeze mid-spin; and that no page is reachable only by typing its address. The eight colour tokens are contrast-checked by computation, not by eye — three failed when first measured. The honest limit: there is no browser-driven suite, so visual rendering, legibility at two metres, the 375px layout and keyboard traversal are checked by hand.</a:t>
            </a:r>
          </a:p>
          <a:p/>
          <a:p>
            <a:r>
              <a:t>Adversarial review — a multi-agent audit of the LIVE deployment produced 44 confirmed findings, each handed to a separate agent instructed to refute it. Three were cases where this repo's own documentation claimed a guarantee that did not exist; they are recorded in docs/07-submission.md rather than quietly fixed. Two it caught: every Postgres view accepted writes from anonymous callers, so a chef could rewrite stock with no ledger row while the base table correctly refused; and /ops/analytics showed a 5.9% food cost, computed from 1000 of 4381 rows, because PostgREST caps responses and a client .limit() cannot raise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use cases — a diner scans the QR and sees what is genuinely available; a cook works their own station on a wall screen with no mouse; the pass sends a whole table away together; a host trades the book against the walk-in queue; a manager tops up the ingredient the board just named; an owner decides what to cut.</a:t>
            </a:r>
          </a:p>
          <a:p/>
          <a:p>
            <a:r>
              <a:t>Target users — seven roles taken from the brigade de cuisine, which is the permission model rather than an invented hierarchy: owner, manager, chef de partie, expo, server, host, guest.</a:t>
            </a:r>
          </a:p>
          <a:p/>
          <a:p>
            <a:r>
              <a:t>Real-world applications — independent restaurants and small groups, where nobody has a dedicated inventory clerk and the person who notices the shortage is the person who must fix it. Multi-tenant from the first migration: every table carries restaurant_id.</a:t>
            </a:r>
          </a:p>
          <a:p/>
          <a:p>
            <a:r>
              <a:t>Expected impact — fewer disappointed orders, because the menu stops promising what the kitchen cannot deliver. Less waste, because reorder quantities come from measured consumption rather than habit. Shorter perceived waits, because the quoted time is real.</a:t>
            </a:r>
          </a:p>
          <a:p/>
          <a:p>
            <a:r>
              <a:t>Measurable outcomes — every claim on the ops screens is recomputed from the order ledger; no figure is typed in. Food cost is stated against the 28–32% industry band, and waste variance compares theoretical depletion against the actual ledger, so stock leaving without being sold is visible rather than inferred.</a:t>
            </a:r>
          </a:p>
          <a:p/>
          <a:p>
            <a:r>
              <a:t>TRY IT YOURSELF — https://brigade-flame.vercel.app , code at https://github.com/bishalbar77/brigade. Password brigade-demo-2026 for owner@brigade.test (the numbers), manager@brigade.test (the pantry), grill@brigade.test (a station), expo@brigade.test (the pass), server@brigade.test (the floor), host@brigade.test (the book), priya@brigade.test (a diner). A five-minute path: /menu on a phone shows a dish with "3 left · 86s ~19:46" — that number is the pantry, not a setting. /ops/runway shows the same dish counting down and names the ingredient that binds it. Order it on the phone and the count drops on both screens. On /ops/kds as the grill chef, fire it, cook it, plate it — then press Served and be refused, because that is the pass's call; sign in as expo and it works. Finally /ops/analytics as the owner: four populated quadrants from six weeks of trading, then the same page as the chef, with no margin, no matrix, and a line saying why.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enhancements — surface the two engines that are built and tested but not yet on screen: threshold notifications, and per-guest recommendations from item-item cosine similarity filtered by availability and allergens. Waste-variance reporting has its maths tested and needs a screen.</a:t>
            </a:r>
          </a:p>
          <a:p/>
          <a:p>
            <a:r>
              <a:t>Integration opportunities — supplier APIs so a reorder suggestion becomes a purchase order; payment gateways in place of the simulated settlement; accounting export from the same ledger the analytics already read.</a:t>
            </a:r>
          </a:p>
          <a:p/>
          <a:p>
            <a:r>
              <a:t>Scalability — multi-tenant from the first migration, so a second restaurant is a row rather than a rewrite. Runway is a general answer to "how long until this constraint bites", so the same maths fits a cloud kitchen, a bakery, or a bar.</a:t>
            </a:r>
          </a:p>
          <a:p/>
          <a:p>
            <a:r>
              <a:t>Future impact — predicted scarcity is a scheduling input, not just a warning. Once a kitchen trusts the number, prep lists, staffing and purchasing can all be driven from it.</a:t>
            </a:r>
          </a:p>
          <a:p/>
          <a:p>
            <a:r>
              <a:t>Conclusion — existing tills tell you a dish IS out. Brigade works out WHEN it will be, tells the kitchen while there is still time to act, and shows the diner before they order. It is deployed, tested end to end, and every number on it is computed from the ledger.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750" b="0" i="0">
                <a:solidFill>
                  <a:schemeClr val="bg1"/>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2750" b="0" i="0">
                <a:solidFill>
                  <a:schemeClr val="bg1"/>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12192000" cy="6858000"/>
          </a:xfrm>
          <a:custGeom>
            <a:avLst/>
            <a:gdLst/>
            <a:ahLst/>
            <a:cxnLst/>
            <a:rect l="l" t="t" r="r" b="b"/>
            <a:pathLst>
              <a:path w="12192000" h="6858000">
                <a:moveTo>
                  <a:pt x="12191999" y="6857999"/>
                </a:moveTo>
                <a:lnTo>
                  <a:pt x="0" y="6857999"/>
                </a:lnTo>
                <a:lnTo>
                  <a:pt x="0" y="0"/>
                </a:lnTo>
                <a:lnTo>
                  <a:pt x="12191999" y="0"/>
                </a:lnTo>
                <a:lnTo>
                  <a:pt x="12191999" y="6857999"/>
                </a:lnTo>
                <a:close/>
              </a:path>
            </a:pathLst>
          </a:custGeom>
          <a:solidFill>
            <a:srgbClr val="000000"/>
          </a:solidFill>
        </p:spPr>
        <p:txBody>
          <a:bodyPr wrap="square" lIns="0" tIns="0" rIns="0" bIns="0" rtlCol="0"/>
          <a:lstStyle/>
          <a:p/>
        </p:txBody>
      </p:sp>
      <p:sp>
        <p:nvSpPr>
          <p:cNvPr id="2" name="Holder 2"/>
          <p:cNvSpPr>
            <a:spLocks noGrp="1"/>
          </p:cNvSpPr>
          <p:nvPr>
            <p:ph type="title"/>
          </p:nvPr>
        </p:nvSpPr>
        <p:spPr>
          <a:xfrm>
            <a:off x="1796975" y="57702"/>
            <a:ext cx="8805545" cy="745318"/>
          </a:xfrm>
          <a:prstGeom prst="rect">
            <a:avLst/>
          </a:prstGeom>
        </p:spPr>
        <p:txBody>
          <a:bodyPr wrap="square" lIns="0" tIns="0" rIns="0" bIns="0">
            <a:spAutoFit/>
          </a:bodyPr>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1415097" y="2708252"/>
            <a:ext cx="4907280" cy="3168650"/>
          </a:xfrm>
          <a:prstGeom prst="rect">
            <a:avLst/>
          </a:prstGeom>
        </p:spPr>
        <p:txBody>
          <a:bodyPr wrap="square" lIns="0" tIns="0" rIns="0" bIns="0">
            <a:spAutoFit/>
          </a:bodyPr>
          <a:lstStyle>
            <a:lvl1pPr>
              <a:defRPr sz="2750" b="0" i="0">
                <a:solidFill>
                  <a:schemeClr val="bg1"/>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0315575" y="0"/>
            <a:ext cx="1876424" cy="1628774"/>
          </a:xfrm>
          <a:prstGeom prst="rect">
            <a:avLst/>
          </a:prstGeom>
        </p:spPr>
      </p:pic>
      <p:pic>
        <p:nvPicPr>
          <p:cNvPr id="3" name="object 3"/>
          <p:cNvPicPr/>
          <p:nvPr/>
        </p:nvPicPr>
        <p:blipFill>
          <a:blip r:embed="rId2" cstate="print"/>
          <a:stretch>
            <a:fillRect/>
          </a:stretch>
        </p:blipFill>
        <p:spPr>
          <a:xfrm>
            <a:off x="76199" y="533400"/>
            <a:ext cx="2028498" cy="968835"/>
          </a:xfrm>
          <a:prstGeom prst="rect">
            <a:avLst/>
          </a:prstGeom>
        </p:spPr>
      </p:pic>
      <p:pic>
        <p:nvPicPr>
          <p:cNvPr id="4" name="object 4"/>
          <p:cNvPicPr/>
          <p:nvPr/>
        </p:nvPicPr>
        <p:blipFill>
          <a:blip r:embed="rId3" cstate="print"/>
          <a:stretch>
            <a:fillRect/>
          </a:stretch>
        </p:blipFill>
        <p:spPr>
          <a:xfrm>
            <a:off x="3733800" y="1628775"/>
            <a:ext cx="3981449" cy="4371974"/>
          </a:xfrm>
          <a:prstGeom prst="rect">
            <a:avLst/>
          </a:prstGeom>
        </p:spPr>
      </p:pic>
      <p:sp>
        <p:nvSpPr>
          <p:cNvPr id="5" name="object 5" descr="$PPTXTitle"/>
          <p:cNvSpPr txBox="1">
            <a:spLocks noGrp="1"/>
          </p:cNvSpPr>
          <p:nvPr>
            <p:ph type="title"/>
          </p:nvPr>
        </p:nvSpPr>
        <p:spPr>
          <a:prstGeom prst="rect">
            <a:avLst/>
          </a:prstGeom>
        </p:spPr>
        <p:txBody>
          <a:bodyPr vert="horz" wrap="square" lIns="0" tIns="259543" rIns="0" bIns="0" rtlCol="0">
            <a:spAutoFit/>
          </a:bodyPr>
          <a:lstStyle/>
          <a:p>
            <a:pPr marL="12700">
              <a:lnSpc>
                <a:spcPct val="100000"/>
              </a:lnSpc>
              <a:spcBef>
                <a:spcPts val="105"/>
              </a:spcBef>
            </a:pPr>
            <a:r>
              <a:rPr sz="3100" spc="-50" dirty="0"/>
              <a:t>Vibeathon</a:t>
            </a:r>
            <a:r>
              <a:rPr sz="3100" spc="-265" dirty="0"/>
              <a:t> </a:t>
            </a:r>
            <a:r>
              <a:rPr sz="3100" spc="-190" dirty="0"/>
              <a:t>6.0</a:t>
            </a:r>
            <a:r>
              <a:rPr sz="3100" spc="-260" dirty="0"/>
              <a:t> </a:t>
            </a:r>
            <a:r>
              <a:rPr sz="3100" spc="-45" dirty="0"/>
              <a:t>(Vibecoding</a:t>
            </a:r>
            <a:r>
              <a:rPr sz="3100" spc="-260" dirty="0"/>
              <a:t> </a:t>
            </a:r>
            <a:r>
              <a:rPr sz="3100" spc="-25" dirty="0"/>
              <a:t>Hackathon)</a:t>
            </a:r>
            <a:r>
              <a:rPr sz="3100" spc="-265" dirty="0"/>
              <a:t> </a:t>
            </a:r>
            <a:r>
              <a:rPr sz="3100" spc="280" dirty="0"/>
              <a:t>–</a:t>
            </a:r>
            <a:r>
              <a:rPr sz="3100" spc="-260" dirty="0"/>
              <a:t> </a:t>
            </a:r>
            <a:r>
              <a:rPr sz="3100" spc="-180" dirty="0"/>
              <a:t>July</a:t>
            </a:r>
            <a:r>
              <a:rPr sz="3100" spc="-260" dirty="0"/>
              <a:t> </a:t>
            </a:r>
            <a:r>
              <a:rPr sz="3100" spc="-30" dirty="0"/>
              <a:t>2026</a:t>
            </a:r>
            <a:endParaRPr sz="3100"/>
          </a:p>
        </p:txBody>
      </p:sp>
      <p:sp>
        <p:nvSpPr>
          <p:cNvPr id="6" name="object 6"/>
          <p:cNvSpPr txBox="1"/>
          <p:nvPr/>
        </p:nvSpPr>
        <p:spPr>
          <a:xfrm>
            <a:off x="155254" y="900931"/>
            <a:ext cx="9472295" cy="5053330"/>
          </a:xfrm>
          <a:prstGeom prst="rect">
            <a:avLst/>
          </a:prstGeom>
        </p:spPr>
        <p:txBody>
          <a:bodyPr vert="horz" wrap="square" lIns="0" tIns="13335" rIns="0" bIns="0" rtlCol="0">
            <a:spAutoFit/>
          </a:bodyPr>
          <a:lstStyle/>
          <a:p>
            <a:pPr marL="4468495">
              <a:lnSpc>
                <a:spcPct val="100000"/>
              </a:lnSpc>
              <a:spcBef>
                <a:spcPts val="105"/>
              </a:spcBef>
              <a:spcAft>
                <a:spcPts val="200"/>
              </a:spcAft>
            </a:pPr>
            <a:r>
              <a:rPr sz="1200" b="1">
                <a:solidFill>
                  <a:srgbClr val="FFFFFF"/>
                </a:solidFill>
                <a:latin typeface="Trebuchet MS"/>
              </a:rPr>
              <a:t>Brigade — the menu as a live function of the pantry</a:t>
            </a:r>
            <a:endParaRPr sz="3600">
              <a:latin typeface="Trebuchet MS" panose="020B0603020202020204"/>
              <a:cs typeface="Trebuchet MS" panose="020B0603020202020204"/>
            </a:endParaRPr>
          </a:p>
          <a:p>
            <a:pPr>
              <a:spcAft>
                <a:spcPts val="200"/>
              </a:spcAft>
            </a:pPr>
          </a:p>
          <a:p>
            <a:pPr>
              <a:spcAft>
                <a:spcPts val="200"/>
              </a:spcAft>
            </a:pPr>
            <a:r>
              <a:rPr sz="1200" b="0">
                <a:solidFill>
                  <a:srgbClr val="FFFFFF"/>
                </a:solidFill>
                <a:latin typeface="Trebuchet MS"/>
              </a:rPr>
              <a:t>Team Name: bishalranabr7</a:t>
            </a:r>
          </a:p>
          <a:p>
            <a:pPr>
              <a:spcAft>
                <a:spcPts val="200"/>
              </a:spcAft>
            </a:pPr>
            <a:r>
              <a:rPr sz="1200" b="0">
                <a:solidFill>
                  <a:srgbClr val="FFFFFF"/>
                </a:solidFill>
                <a:latin typeface="Trebuchet MS"/>
              </a:rPr>
              <a:t>Team Leader: Bishal Rana</a:t>
            </a:r>
          </a:p>
          <a:p>
            <a:pPr>
              <a:spcAft>
                <a:spcPts val="200"/>
              </a:spcAft>
            </a:pPr>
            <a:r>
              <a:rPr sz="1200" b="0">
                <a:solidFill>
                  <a:srgbClr val="FFFFFF"/>
                </a:solidFill>
                <a:latin typeface="Trebuchet MS"/>
              </a:rPr>
              <a:t>College: Parala Maharaja Engineering College</a:t>
            </a:r>
          </a:p>
          <a:p>
            <a:pPr>
              <a:spcAft>
                <a:spcPts val="200"/>
              </a:spcAft>
            </a:pPr>
            <a:r>
              <a:rPr sz="1200" b="0">
                <a:solidFill>
                  <a:srgbClr val="FFFFFF"/>
                </a:solidFill>
                <a:latin typeface="Trebuchet MS"/>
              </a:rPr>
              <a:t>Year &amp; Department: CSE — 2023 batch</a:t>
            </a:r>
          </a:p>
          <a:p>
            <a:pPr>
              <a:spcAft>
                <a:spcPts val="200"/>
              </a:spcAft>
            </a:pPr>
            <a:r>
              <a:rPr sz="1200" b="0">
                <a:solidFill>
                  <a:srgbClr val="FFFFFF"/>
                </a:solidFill>
                <a:latin typeface="Trebuchet MS"/>
              </a:rPr>
              <a:t>Problem Statement: Smart Restaurant Management System</a:t>
            </a:r>
          </a:p>
          <a:p>
            <a:pPr>
              <a:spcAft>
                <a:spcPts val="200"/>
              </a:spcAft>
            </a:pPr>
          </a:p>
          <a:p>
            <a:pPr>
              <a:spcAft>
                <a:spcPts val="200"/>
              </a:spcAft>
            </a:pPr>
            <a:r>
              <a:rPr sz="1200" b="0">
                <a:solidFill>
                  <a:srgbClr val="FFFFFF"/>
                </a:solidFill>
                <a:latin typeface="Trebuchet MS"/>
              </a:rPr>
              <a:t>Live now: https://brigade-flame.vercel.app</a:t>
            </a:r>
          </a:p>
          <a:p>
            <a:pPr>
              <a:spcAft>
                <a:spcPts val="200"/>
              </a:spcAft>
            </a:pPr>
            <a:r>
              <a:rPr sz="1200" b="0">
                <a:solidFill>
                  <a:srgbClr val="FFFFFF"/>
                </a:solidFill>
                <a:latin typeface="Trebuchet MS"/>
              </a:rPr>
              <a:t>Code: https://github.com/bishalbar77/brigade</a:t>
            </a:r>
          </a:p>
          <a:p>
            <a:pPr>
              <a:spcAft>
                <a:spcPts val="200"/>
              </a:spcAft>
            </a:pPr>
            <a:r>
              <a:rPr sz="1200" b="0">
                <a:solidFill>
                  <a:srgbClr val="FFFFFF"/>
                </a:solidFill>
                <a:latin typeface="Trebuchet MS"/>
              </a:rPr>
              <a:t>Sign in as owner@brigade.test / grill@brigade.test / priya@brigade.test</a:t>
            </a:r>
          </a:p>
          <a:p>
            <a:pPr>
              <a:spcAft>
                <a:spcPts val="200"/>
              </a:spcAft>
            </a:pPr>
            <a:r>
              <a:rPr sz="1200" b="0">
                <a:solidFill>
                  <a:srgbClr val="FFFFFF"/>
                </a:solidFill>
                <a:latin typeface="Trebuchet MS"/>
              </a:rPr>
              <a:t>Password for every demo account: brigade-demo-2026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41271" y="3171"/>
            <a:ext cx="1485899" cy="1057274"/>
          </a:xfrm>
          <a:prstGeom prst="rect">
            <a:avLst/>
          </a:prstGeom>
        </p:spPr>
      </p:pic>
      <p:pic>
        <p:nvPicPr>
          <p:cNvPr id="3" name="object 3"/>
          <p:cNvPicPr/>
          <p:nvPr/>
        </p:nvPicPr>
        <p:blipFill>
          <a:blip r:embed="rId2" cstate="print"/>
          <a:stretch>
            <a:fillRect/>
          </a:stretch>
        </p:blipFill>
        <p:spPr>
          <a:xfrm>
            <a:off x="11277599" y="0"/>
            <a:ext cx="914399" cy="989409"/>
          </a:xfrm>
          <a:prstGeom prst="rect">
            <a:avLst/>
          </a:prstGeom>
        </p:spPr>
      </p:pic>
      <p:sp>
        <p:nvSpPr>
          <p:cNvPr id="4" name="object 4" descr="$PPTXTitle"/>
          <p:cNvSpPr txBox="1">
            <a:spLocks noGrp="1"/>
          </p:cNvSpPr>
          <p:nvPr>
            <p:ph type="title"/>
          </p:nvPr>
        </p:nvSpPr>
        <p:spPr>
          <a:prstGeom prst="rect">
            <a:avLst/>
          </a:prstGeom>
        </p:spPr>
        <p:txBody>
          <a:bodyPr vert="horz" wrap="square" lIns="0" tIns="85144" rIns="0" bIns="0" rtlCol="0">
            <a:spAutoFit/>
          </a:bodyPr>
          <a:lstStyle/>
          <a:p>
            <a:pPr marL="2245995">
              <a:lnSpc>
                <a:spcPct val="100000"/>
              </a:lnSpc>
              <a:spcBef>
                <a:spcPts val="130"/>
              </a:spcBef>
            </a:pPr>
            <a:r>
              <a:rPr spc="75" dirty="0"/>
              <a:t>CURRENT</a:t>
            </a:r>
            <a:r>
              <a:rPr spc="-360" dirty="0"/>
              <a:t> </a:t>
            </a:r>
            <a:r>
              <a:rPr spc="80" dirty="0"/>
              <a:t>PROBLEM</a:t>
            </a:r>
            <a:endParaRPr spc="80" dirty="0"/>
          </a:p>
        </p:txBody>
      </p:sp>
      <p:pic>
        <p:nvPicPr>
          <p:cNvPr id="5" name="object 5"/>
          <p:cNvPicPr/>
          <p:nvPr/>
        </p:nvPicPr>
        <p:blipFill>
          <a:blip r:embed="rId3" cstate="print"/>
          <a:stretch>
            <a:fillRect/>
          </a:stretch>
        </p:blipFill>
        <p:spPr>
          <a:xfrm>
            <a:off x="1151572" y="3126603"/>
            <a:ext cx="104775" cy="104774"/>
          </a:xfrm>
          <a:prstGeom prst="rect">
            <a:avLst/>
          </a:prstGeom>
        </p:spPr>
      </p:pic>
      <p:pic>
        <p:nvPicPr>
          <p:cNvPr id="6" name="object 6"/>
          <p:cNvPicPr/>
          <p:nvPr/>
        </p:nvPicPr>
        <p:blipFill>
          <a:blip r:embed="rId3" cstate="print"/>
          <a:stretch>
            <a:fillRect/>
          </a:stretch>
        </p:blipFill>
        <p:spPr>
          <a:xfrm>
            <a:off x="1151572" y="3755252"/>
            <a:ext cx="104775" cy="104774"/>
          </a:xfrm>
          <a:prstGeom prst="rect">
            <a:avLst/>
          </a:prstGeom>
        </p:spPr>
      </p:pic>
      <p:pic>
        <p:nvPicPr>
          <p:cNvPr id="7" name="object 7"/>
          <p:cNvPicPr/>
          <p:nvPr/>
        </p:nvPicPr>
        <p:blipFill>
          <a:blip r:embed="rId3" cstate="print"/>
          <a:stretch>
            <a:fillRect/>
          </a:stretch>
        </p:blipFill>
        <p:spPr>
          <a:xfrm>
            <a:off x="1151572" y="4383902"/>
            <a:ext cx="104775" cy="104774"/>
          </a:xfrm>
          <a:prstGeom prst="rect">
            <a:avLst/>
          </a:prstGeom>
        </p:spPr>
      </p:pic>
      <p:pic>
        <p:nvPicPr>
          <p:cNvPr id="8" name="object 8"/>
          <p:cNvPicPr/>
          <p:nvPr/>
        </p:nvPicPr>
        <p:blipFill>
          <a:blip r:embed="rId4" cstate="print"/>
          <a:stretch>
            <a:fillRect/>
          </a:stretch>
        </p:blipFill>
        <p:spPr>
          <a:xfrm>
            <a:off x="1151572" y="5012552"/>
            <a:ext cx="104775" cy="104774"/>
          </a:xfrm>
          <a:prstGeom prst="rect">
            <a:avLst/>
          </a:prstGeom>
        </p:spPr>
      </p:pic>
      <p:pic>
        <p:nvPicPr>
          <p:cNvPr id="9" name="object 9"/>
          <p:cNvPicPr/>
          <p:nvPr/>
        </p:nvPicPr>
        <p:blipFill>
          <a:blip r:embed="rId3" cstate="print"/>
          <a:stretch>
            <a:fillRect/>
          </a:stretch>
        </p:blipFill>
        <p:spPr>
          <a:xfrm>
            <a:off x="1151572" y="5641202"/>
            <a:ext cx="104775" cy="104774"/>
          </a:xfrm>
          <a:prstGeom prst="rect">
            <a:avLst/>
          </a:prstGeom>
        </p:spPr>
      </p:pic>
      <p:sp>
        <p:nvSpPr>
          <p:cNvPr id="10" name="object 10"/>
          <p:cNvSpPr txBox="1">
            <a:spLocks noGrp="1"/>
          </p:cNvSpPr>
          <p:nvPr>
            <p:ph type="body" idx="1"/>
          </p:nvPr>
        </p:nvSpPr>
        <p:spPr>
          <a:prstGeom prst="rect">
            <a:avLst/>
          </a:prstGeom>
        </p:spPr>
        <p:txBody>
          <a:bodyPr vert="horz" wrap="square" lIns="0" tIns="12065" rIns="0" bIns="0" rtlCol="0">
            <a:spAutoFit/>
          </a:bodyPr>
          <a:lstStyle/>
          <a:p>
            <a:pPr marL="12700" marR="1899920">
              <a:lnSpc>
                <a:spcPct val="150000"/>
              </a:lnSpc>
              <a:spcBef>
                <a:spcPts val="95"/>
              </a:spcBef>
              <a:spcAft>
                <a:spcPts val="3629"/>
              </a:spcAft>
            </a:pPr>
            <a:r>
              <a:rPr sz="1100" b="0">
                <a:solidFill>
                  <a:srgbClr val="FFFFFF"/>
                </a:solidFill>
                <a:latin typeface="Trebuchet MS"/>
              </a:rPr>
              <a:t>A menu promises what stock cannot keep</a:t>
            </a:r>
            <a:endParaRPr spc="-10" dirty="0"/>
          </a:p>
          <a:p>
            <a:pPr>
              <a:spcAft>
                <a:spcPts val="3629"/>
              </a:spcAft>
            </a:pPr>
            <a:r>
              <a:rPr sz="1100" b="0">
                <a:solidFill>
                  <a:srgbClr val="FFFFFF"/>
                </a:solidFill>
                <a:latin typeface="Trebuchet MS"/>
              </a:rPr>
              <a:t>Diners, cooks and owners all guess</a:t>
            </a:r>
          </a:p>
          <a:p>
            <a:pPr>
              <a:spcAft>
                <a:spcPts val="3629"/>
              </a:spcAft>
            </a:pPr>
            <a:r>
              <a:rPr sz="1100" b="0">
                <a:solidFill>
                  <a:srgbClr val="FFFFFF"/>
                </a:solidFill>
                <a:latin typeface="Trebuchet MS"/>
              </a:rPr>
              <a:t>Asked verbally, stale when answered</a:t>
            </a:r>
          </a:p>
          <a:p>
            <a:pPr>
              <a:spcAft>
                <a:spcPts val="3629"/>
              </a:spcAft>
            </a:pPr>
            <a:r>
              <a:rPr sz="1100" b="0">
                <a:solidFill>
                  <a:srgbClr val="FFFFFF"/>
                </a:solidFill>
                <a:latin typeface="Trebuchet MS"/>
              </a:rPr>
              <a:t>Tills already auto-86 — none predict</a:t>
            </a:r>
          </a:p>
          <a:p>
            <a:pPr>
              <a:spcAft>
                <a:spcPts val="3629"/>
              </a:spcAft>
            </a:pPr>
            <a:r>
              <a:rPr sz="1100" b="0">
                <a:solidFill>
                  <a:srgbClr val="FFFFFF"/>
                </a:solidFill>
                <a:latin typeface="Trebuchet MS"/>
              </a:rPr>
              <a:t>4–10% food wasted; cost 28–32%</a:t>
            </a:r>
          </a:p>
        </p:txBody>
      </p:sp>
      <p:sp>
        <p:nvSpPr>
          <p:cNvPr id="11" name="object 11"/>
          <p:cNvSpPr txBox="1"/>
          <p:nvPr/>
        </p:nvSpPr>
        <p:spPr>
          <a:xfrm>
            <a:off x="242994" y="183884"/>
            <a:ext cx="951865" cy="504825"/>
          </a:xfrm>
          <a:prstGeom prst="rect">
            <a:avLst/>
          </a:prstGeom>
        </p:spPr>
        <p:txBody>
          <a:bodyPr vert="horz" wrap="square" lIns="0" tIns="45720" rIns="0" bIns="0" rtlCol="0">
            <a:spAutoFit/>
          </a:bodyPr>
          <a:lstStyle/>
          <a:p>
            <a:pPr algn="ctr">
              <a:lnSpc>
                <a:spcPct val="100000"/>
              </a:lnSpc>
              <a:spcBef>
                <a:spcPts val="360"/>
              </a:spcBef>
              <a:spcAft>
                <a:spcPts val="200"/>
              </a:spcAft>
            </a:pPr>
            <a:r>
              <a:rPr sz="1000" b="0">
                <a:solidFill>
                  <a:srgbClr val="FFFFFF"/>
                </a:solidFill>
                <a:latin typeface="Trebuchet MS"/>
              </a:rPr>
              <a:t>bishalranabr7</a:t>
            </a:r>
            <a:endParaRPr sz="1350">
              <a:latin typeface="Verdana" panose="020B0604030504040204"/>
              <a:cs typeface="Verdana" panose="020B0604030504040204"/>
            </a:endParaRPr>
          </a:p>
        </p:txBody>
      </p:sp>
      <p:pic>
        <p:nvPicPr>
          <p:cNvPr id="12" name="object 12"/>
          <p:cNvPicPr/>
          <p:nvPr/>
        </p:nvPicPr>
        <p:blipFill>
          <a:blip r:embed="rId5" cstate="print"/>
          <a:stretch>
            <a:fillRect/>
          </a:stretch>
        </p:blipFill>
        <p:spPr>
          <a:xfrm>
            <a:off x="3733800" y="1628775"/>
            <a:ext cx="3981449" cy="437197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pic>
        <p:nvPicPr>
          <p:cNvPr id="3" name="object 3"/>
          <p:cNvPicPr/>
          <p:nvPr/>
        </p:nvPicPr>
        <p:blipFill>
          <a:blip r:embed="rId2" cstate="print"/>
          <a:stretch>
            <a:fillRect/>
          </a:stretch>
        </p:blipFill>
        <p:spPr>
          <a:xfrm>
            <a:off x="41271" y="3171"/>
            <a:ext cx="1485899" cy="1057274"/>
          </a:xfrm>
          <a:prstGeom prst="rect">
            <a:avLst/>
          </a:prstGeom>
        </p:spPr>
      </p:pic>
      <p:pic>
        <p:nvPicPr>
          <p:cNvPr id="4" name="object 4"/>
          <p:cNvPicPr/>
          <p:nvPr/>
        </p:nvPicPr>
        <p:blipFill>
          <a:blip r:embed="rId3" cstate="print"/>
          <a:stretch>
            <a:fillRect/>
          </a:stretch>
        </p:blipFill>
        <p:spPr>
          <a:xfrm>
            <a:off x="10525124" y="2609783"/>
            <a:ext cx="1374278" cy="1157287"/>
          </a:xfrm>
          <a:prstGeom prst="rect">
            <a:avLst/>
          </a:prstGeom>
        </p:spPr>
      </p:pic>
      <p:sp>
        <p:nvSpPr>
          <p:cNvPr id="5" name="object 5"/>
          <p:cNvSpPr txBox="1"/>
          <p:nvPr/>
        </p:nvSpPr>
        <p:spPr>
          <a:xfrm>
            <a:off x="412114" y="301631"/>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solidFill>
                  <a:srgbClr val="FFFFFF"/>
                </a:solidFill>
                <a:latin typeface="Trebuchet MS"/>
              </a:rPr>
              <a:t>bishalranabr7</a:t>
            </a:r>
            <a:endParaRPr sz="1100">
              <a:latin typeface="Trebuchet MS" panose="020B0603020202020204"/>
              <a:cs typeface="Trebuchet MS" panose="020B0603020202020204"/>
            </a:endParaRPr>
          </a:p>
        </p:txBody>
      </p:sp>
      <p:sp>
        <p:nvSpPr>
          <p:cNvPr id="6" name="object 6" descr="$PPTXTitle"/>
          <p:cNvSpPr txBox="1">
            <a:spLocks noGrp="1"/>
          </p:cNvSpPr>
          <p:nvPr>
            <p:ph type="title"/>
          </p:nvPr>
        </p:nvSpPr>
        <p:spPr>
          <a:prstGeom prst="rect">
            <a:avLst/>
          </a:prstGeom>
        </p:spPr>
        <p:txBody>
          <a:bodyPr vert="horz" wrap="square" lIns="0" tIns="56257" rIns="0" bIns="0" rtlCol="0">
            <a:spAutoFit/>
          </a:bodyPr>
          <a:lstStyle/>
          <a:p>
            <a:pPr marL="2461895">
              <a:lnSpc>
                <a:spcPct val="100000"/>
              </a:lnSpc>
              <a:spcBef>
                <a:spcPts val="130"/>
              </a:spcBef>
            </a:pPr>
            <a:r>
              <a:rPr dirty="0"/>
              <a:t>Proposed</a:t>
            </a:r>
            <a:r>
              <a:rPr spc="-100" dirty="0"/>
              <a:t> </a:t>
            </a:r>
            <a:r>
              <a:rPr spc="-10" dirty="0"/>
              <a:t>Solution</a:t>
            </a:r>
            <a:endParaRPr spc="-10" dirty="0"/>
          </a:p>
        </p:txBody>
      </p:sp>
      <p:pic>
        <p:nvPicPr>
          <p:cNvPr id="7" name="object 7"/>
          <p:cNvPicPr/>
          <p:nvPr/>
        </p:nvPicPr>
        <p:blipFill>
          <a:blip r:embed="rId4" cstate="print"/>
          <a:stretch>
            <a:fillRect/>
          </a:stretch>
        </p:blipFill>
        <p:spPr>
          <a:xfrm>
            <a:off x="1132574" y="3699474"/>
            <a:ext cx="104775" cy="104774"/>
          </a:xfrm>
          <a:prstGeom prst="rect">
            <a:avLst/>
          </a:prstGeom>
        </p:spPr>
      </p:pic>
      <p:pic>
        <p:nvPicPr>
          <p:cNvPr id="8" name="object 8"/>
          <p:cNvPicPr/>
          <p:nvPr/>
        </p:nvPicPr>
        <p:blipFill>
          <a:blip r:embed="rId4" cstate="print"/>
          <a:stretch>
            <a:fillRect/>
          </a:stretch>
        </p:blipFill>
        <p:spPr>
          <a:xfrm>
            <a:off x="1132574" y="4118574"/>
            <a:ext cx="104775" cy="104774"/>
          </a:xfrm>
          <a:prstGeom prst="rect">
            <a:avLst/>
          </a:prstGeom>
        </p:spPr>
      </p:pic>
      <p:pic>
        <p:nvPicPr>
          <p:cNvPr id="9" name="object 9"/>
          <p:cNvPicPr/>
          <p:nvPr/>
        </p:nvPicPr>
        <p:blipFill>
          <a:blip r:embed="rId4" cstate="print"/>
          <a:stretch>
            <a:fillRect/>
          </a:stretch>
        </p:blipFill>
        <p:spPr>
          <a:xfrm>
            <a:off x="1132574" y="4537674"/>
            <a:ext cx="104775" cy="104774"/>
          </a:xfrm>
          <a:prstGeom prst="rect">
            <a:avLst/>
          </a:prstGeom>
        </p:spPr>
      </p:pic>
      <p:pic>
        <p:nvPicPr>
          <p:cNvPr id="10" name="object 10"/>
          <p:cNvPicPr/>
          <p:nvPr/>
        </p:nvPicPr>
        <p:blipFill>
          <a:blip r:embed="rId4" cstate="print"/>
          <a:stretch>
            <a:fillRect/>
          </a:stretch>
        </p:blipFill>
        <p:spPr>
          <a:xfrm>
            <a:off x="1132574" y="4956774"/>
            <a:ext cx="104775" cy="104774"/>
          </a:xfrm>
          <a:prstGeom prst="rect">
            <a:avLst/>
          </a:prstGeom>
        </p:spPr>
      </p:pic>
      <p:pic>
        <p:nvPicPr>
          <p:cNvPr id="11" name="object 11"/>
          <p:cNvPicPr/>
          <p:nvPr/>
        </p:nvPicPr>
        <p:blipFill>
          <a:blip r:embed="rId4" cstate="print"/>
          <a:stretch>
            <a:fillRect/>
          </a:stretch>
        </p:blipFill>
        <p:spPr>
          <a:xfrm>
            <a:off x="1132574" y="5375874"/>
            <a:ext cx="104775" cy="104774"/>
          </a:xfrm>
          <a:prstGeom prst="rect">
            <a:avLst/>
          </a:prstGeom>
        </p:spPr>
      </p:pic>
      <p:sp>
        <p:nvSpPr>
          <p:cNvPr id="12" name="object 12"/>
          <p:cNvSpPr txBox="1"/>
          <p:nvPr/>
        </p:nvSpPr>
        <p:spPr>
          <a:xfrm>
            <a:off x="1396099" y="3486178"/>
            <a:ext cx="3562985" cy="2125980"/>
          </a:xfrm>
          <a:prstGeom prst="rect">
            <a:avLst/>
          </a:prstGeom>
        </p:spPr>
        <p:txBody>
          <a:bodyPr vert="horz" wrap="square" lIns="0" tIns="16510" rIns="0" bIns="0" rtlCol="0">
            <a:spAutoFit/>
          </a:bodyPr>
          <a:lstStyle/>
          <a:p>
            <a:pPr marL="12700" marR="787400">
              <a:lnSpc>
                <a:spcPct val="100000"/>
              </a:lnSpc>
              <a:spcBef>
                <a:spcPts val="130"/>
              </a:spcBef>
              <a:spcAft>
                <a:spcPts val="1980"/>
              </a:spcAft>
            </a:pPr>
            <a:r>
              <a:rPr sz="1100" b="0">
                <a:solidFill>
                  <a:srgbClr val="FFFFFF"/>
                </a:solidFill>
                <a:latin typeface="Trebuchet MS"/>
              </a:rPr>
              <a:t>Runway: minutes until a dish 86s</a:t>
            </a:r>
            <a:endParaRPr sz="2750">
              <a:latin typeface="Trebuchet MS" panose="020B0603020202020204"/>
              <a:cs typeface="Trebuchet MS" panose="020B0603020202020204"/>
            </a:endParaRPr>
          </a:p>
          <a:p>
            <a:pPr>
              <a:spcAft>
                <a:spcPts val="1980"/>
              </a:spcAft>
            </a:pPr>
            <a:r>
              <a:rPr sz="1100" b="0">
                <a:solidFill>
                  <a:srgbClr val="FFFFFF"/>
                </a:solidFill>
                <a:latin typeface="Trebuchet MS"/>
              </a:rPr>
              <a:t>portions ÷ tonight's real sell rate</a:t>
            </a:r>
          </a:p>
          <a:p>
            <a:pPr>
              <a:spcAft>
                <a:spcPts val="1980"/>
              </a:spcAft>
            </a:pPr>
            <a:r>
              <a:rPr sz="1100" b="0">
                <a:solidFill>
                  <a:srgbClr val="FFFFFF"/>
                </a:solidFill>
                <a:latin typeface="Trebuchet MS"/>
              </a:rPr>
              <a:t>Menu, ordering, KDS, runway board</a:t>
            </a:r>
          </a:p>
          <a:p>
            <a:pPr>
              <a:spcAft>
                <a:spcPts val="1980"/>
              </a:spcAft>
            </a:pPr>
            <a:r>
              <a:rPr sz="1100" b="0">
                <a:solidFill>
                  <a:srgbClr val="FFFFFF"/>
                </a:solidFill>
                <a:latin typeface="Trebuchet MS"/>
              </a:rPr>
              <a:t>Availability reaches the diner</a:t>
            </a:r>
          </a:p>
          <a:p>
            <a:pPr>
              <a:spcAft>
                <a:spcPts val="1980"/>
              </a:spcAft>
            </a:pPr>
            <a:r>
              <a:rPr sz="1100" b="0">
                <a:solidFill>
                  <a:srgbClr val="FFFFFF"/>
                </a:solidFill>
                <a:latin typeface="Trebuchet MS"/>
              </a:rPr>
              <a:t>Predicted, not reported — time to act</a:t>
            </a:r>
          </a:p>
        </p:txBody>
      </p:sp>
      <p:pic>
        <p:nvPicPr>
          <p:cNvPr id="13" name="object 13"/>
          <p:cNvPicPr/>
          <p:nvPr/>
        </p:nvPicPr>
        <p:blipFill>
          <a:blip r:embed="rId5" cstate="print"/>
          <a:stretch>
            <a:fillRect/>
          </a:stretch>
        </p:blipFill>
        <p:spPr>
          <a:xfrm>
            <a:off x="3733800" y="1628775"/>
            <a:ext cx="3981449" cy="437197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sp>
        <p:nvSpPr>
          <p:cNvPr id="3" name="object 3" descr="$PPTXTitle"/>
          <p:cNvSpPr txBox="1">
            <a:spLocks noGrp="1"/>
          </p:cNvSpPr>
          <p:nvPr>
            <p:ph type="title"/>
          </p:nvPr>
        </p:nvSpPr>
        <p:spPr>
          <a:prstGeom prst="rect">
            <a:avLst/>
          </a:prstGeom>
        </p:spPr>
        <p:txBody>
          <a:bodyPr vert="horz" wrap="square" lIns="0" tIns="16510" rIns="0" bIns="0" rtlCol="0">
            <a:spAutoFit/>
          </a:bodyPr>
          <a:lstStyle/>
          <a:p>
            <a:pPr marL="1871345">
              <a:lnSpc>
                <a:spcPct val="100000"/>
              </a:lnSpc>
              <a:spcBef>
                <a:spcPts val="130"/>
              </a:spcBef>
            </a:pPr>
            <a:r>
              <a:rPr spc="70" dirty="0"/>
              <a:t>TECHNICAL</a:t>
            </a:r>
            <a:r>
              <a:rPr spc="-385" dirty="0"/>
              <a:t> </a:t>
            </a:r>
            <a:r>
              <a:rPr spc="95" dirty="0"/>
              <a:t>APPROACH</a:t>
            </a:r>
            <a:endParaRPr spc="95" dirty="0"/>
          </a:p>
        </p:txBody>
      </p:sp>
      <p:pic>
        <p:nvPicPr>
          <p:cNvPr id="4" name="object 4"/>
          <p:cNvPicPr/>
          <p:nvPr/>
        </p:nvPicPr>
        <p:blipFill>
          <a:blip r:embed="rId2" cstate="print"/>
          <a:stretch>
            <a:fillRect/>
          </a:stretch>
        </p:blipFill>
        <p:spPr>
          <a:xfrm>
            <a:off x="41271" y="3171"/>
            <a:ext cx="1485899" cy="1057274"/>
          </a:xfrm>
          <a:prstGeom prst="rect">
            <a:avLst/>
          </a:prstGeom>
        </p:spPr>
      </p:pic>
      <p:sp>
        <p:nvSpPr>
          <p:cNvPr id="5" name="object 5"/>
          <p:cNvSpPr txBox="1"/>
          <p:nvPr/>
        </p:nvSpPr>
        <p:spPr>
          <a:xfrm>
            <a:off x="412114" y="301631"/>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solidFill>
                  <a:srgbClr val="FFFFFF"/>
                </a:solidFill>
                <a:latin typeface="Trebuchet MS"/>
              </a:rPr>
              <a:t>bishalranabr7</a:t>
            </a:r>
            <a:endParaRPr sz="1100">
              <a:latin typeface="Trebuchet MS" panose="020B0603020202020204"/>
              <a:cs typeface="Trebuchet MS" panose="020B0603020202020204"/>
            </a:endParaRPr>
          </a:p>
        </p:txBody>
      </p:sp>
      <p:pic>
        <p:nvPicPr>
          <p:cNvPr id="6" name="object 6"/>
          <p:cNvPicPr/>
          <p:nvPr/>
        </p:nvPicPr>
        <p:blipFill>
          <a:blip r:embed="rId3" cstate="print"/>
          <a:stretch>
            <a:fillRect/>
          </a:stretch>
        </p:blipFill>
        <p:spPr>
          <a:xfrm>
            <a:off x="1554873" y="2797731"/>
            <a:ext cx="104775" cy="104774"/>
          </a:xfrm>
          <a:prstGeom prst="rect">
            <a:avLst/>
          </a:prstGeom>
        </p:spPr>
      </p:pic>
      <p:pic>
        <p:nvPicPr>
          <p:cNvPr id="7" name="object 7"/>
          <p:cNvPicPr/>
          <p:nvPr/>
        </p:nvPicPr>
        <p:blipFill>
          <a:blip r:embed="rId3" cstate="print"/>
          <a:stretch>
            <a:fillRect/>
          </a:stretch>
        </p:blipFill>
        <p:spPr>
          <a:xfrm>
            <a:off x="1554873" y="3216831"/>
            <a:ext cx="104775" cy="104774"/>
          </a:xfrm>
          <a:prstGeom prst="rect">
            <a:avLst/>
          </a:prstGeom>
        </p:spPr>
      </p:pic>
      <p:pic>
        <p:nvPicPr>
          <p:cNvPr id="8" name="object 8"/>
          <p:cNvPicPr/>
          <p:nvPr/>
        </p:nvPicPr>
        <p:blipFill>
          <a:blip r:embed="rId3" cstate="print"/>
          <a:stretch>
            <a:fillRect/>
          </a:stretch>
        </p:blipFill>
        <p:spPr>
          <a:xfrm>
            <a:off x="1554873" y="3635931"/>
            <a:ext cx="104775" cy="104774"/>
          </a:xfrm>
          <a:prstGeom prst="rect">
            <a:avLst/>
          </a:prstGeom>
        </p:spPr>
      </p:pic>
      <p:pic>
        <p:nvPicPr>
          <p:cNvPr id="9" name="object 9"/>
          <p:cNvPicPr/>
          <p:nvPr/>
        </p:nvPicPr>
        <p:blipFill>
          <a:blip r:embed="rId3" cstate="print"/>
          <a:stretch>
            <a:fillRect/>
          </a:stretch>
        </p:blipFill>
        <p:spPr>
          <a:xfrm>
            <a:off x="1554873" y="4055031"/>
            <a:ext cx="104775" cy="104774"/>
          </a:xfrm>
          <a:prstGeom prst="rect">
            <a:avLst/>
          </a:prstGeom>
        </p:spPr>
      </p:pic>
      <p:pic>
        <p:nvPicPr>
          <p:cNvPr id="10" name="object 10"/>
          <p:cNvPicPr/>
          <p:nvPr/>
        </p:nvPicPr>
        <p:blipFill>
          <a:blip r:embed="rId3" cstate="print"/>
          <a:stretch>
            <a:fillRect/>
          </a:stretch>
        </p:blipFill>
        <p:spPr>
          <a:xfrm>
            <a:off x="1554873" y="4474131"/>
            <a:ext cx="104775" cy="104774"/>
          </a:xfrm>
          <a:prstGeom prst="rect">
            <a:avLst/>
          </a:prstGeom>
        </p:spPr>
      </p:pic>
      <p:sp>
        <p:nvSpPr>
          <p:cNvPr id="11" name="object 11"/>
          <p:cNvSpPr txBox="1"/>
          <p:nvPr/>
        </p:nvSpPr>
        <p:spPr>
          <a:xfrm>
            <a:off x="1818398" y="2584435"/>
            <a:ext cx="3701415" cy="2132330"/>
          </a:xfrm>
          <a:prstGeom prst="rect">
            <a:avLst/>
          </a:prstGeom>
        </p:spPr>
        <p:txBody>
          <a:bodyPr vert="horz" wrap="square" lIns="0" tIns="16510" rIns="0" bIns="0" rtlCol="0">
            <a:spAutoFit/>
          </a:bodyPr>
          <a:lstStyle/>
          <a:p>
            <a:pPr marL="12700" marR="5080">
              <a:lnSpc>
                <a:spcPct val="100000"/>
              </a:lnSpc>
              <a:spcBef>
                <a:spcPts val="130"/>
              </a:spcBef>
              <a:spcAft>
                <a:spcPts val="1980"/>
              </a:spcAft>
            </a:pPr>
            <a:r>
              <a:rPr sz="1100" b="0">
                <a:solidFill>
                  <a:srgbClr val="FFFFFF"/>
                </a:solidFill>
                <a:latin typeface="Trebuchet MS"/>
              </a:rPr>
              <a:t>Next.js 15, TypeScript, Supabase</a:t>
            </a:r>
            <a:endParaRPr sz="2750">
              <a:latin typeface="Trebuchet MS" panose="020B0603020202020204"/>
              <a:cs typeface="Trebuchet MS" panose="020B0603020202020204"/>
            </a:endParaRPr>
          </a:p>
          <a:p>
            <a:pPr>
              <a:spcAft>
                <a:spcPts val="1980"/>
              </a:spcAft>
            </a:pPr>
            <a:r>
              <a:rPr sz="1100" b="0">
                <a:solidFill>
                  <a:srgbClr val="FFFFFF"/>
                </a:solidFill>
                <a:latin typeface="Trebuchet MS"/>
              </a:rPr>
              <a:t>Availability computed, never stored</a:t>
            </a:r>
          </a:p>
          <a:p>
            <a:pPr>
              <a:spcAft>
                <a:spcPts val="1980"/>
              </a:spcAft>
            </a:pPr>
            <a:r>
              <a:rPr sz="1100" b="0">
                <a:solidFill>
                  <a:srgbClr val="FFFFFF"/>
                </a:solidFill>
                <a:latin typeface="Trebuchet MS"/>
              </a:rPr>
              <a:t>Append-only ledger; 43 RLS policies</a:t>
            </a:r>
          </a:p>
          <a:p>
            <a:pPr>
              <a:spcAft>
                <a:spcPts val="1980"/>
              </a:spcAft>
            </a:pPr>
            <a:r>
              <a:rPr sz="1100" b="0">
                <a:solidFill>
                  <a:srgbClr val="FFFFFF"/>
                </a:solidFill>
                <a:latin typeface="Trebuchet MS"/>
              </a:rPr>
              <a:t>No LLM — deterministic statistics</a:t>
            </a:r>
          </a:p>
          <a:p>
            <a:pPr>
              <a:spcAft>
                <a:spcPts val="1980"/>
              </a:spcAft>
            </a:pPr>
            <a:r>
              <a:rPr sz="1100" b="0">
                <a:solidFill>
                  <a:srgbClr val="FFFFFF"/>
                </a:solidFill>
                <a:latin typeface="Trebuchet MS"/>
              </a:rPr>
              <a:t>70 tests · 27 DB · 120 end-to-end</a:t>
            </a: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sp>
        <p:nvSpPr>
          <p:cNvPr id="3" name="object 3" descr="$PPTXTitle"/>
          <p:cNvSpPr txBox="1">
            <a:spLocks noGrp="1"/>
          </p:cNvSpPr>
          <p:nvPr>
            <p:ph type="title"/>
          </p:nvPr>
        </p:nvSpPr>
        <p:spPr>
          <a:xfrm>
            <a:off x="1796975" y="57702"/>
            <a:ext cx="8805545" cy="624205"/>
          </a:xfrm>
          <a:prstGeom prst="rect">
            <a:avLst/>
          </a:prstGeom>
        </p:spPr>
        <p:txBody>
          <a:bodyPr vert="horz" wrap="square" lIns="0" tIns="16510" rIns="0" bIns="0" rtlCol="0">
            <a:spAutoFit/>
          </a:bodyPr>
          <a:lstStyle/>
          <a:p>
            <a:pPr marL="1797685">
              <a:lnSpc>
                <a:spcPct val="100000"/>
              </a:lnSpc>
              <a:spcBef>
                <a:spcPts val="130"/>
              </a:spcBef>
            </a:pPr>
            <a:r>
              <a:rPr spc="120" dirty="0"/>
              <a:t>Use</a:t>
            </a:r>
            <a:r>
              <a:rPr spc="-340" dirty="0"/>
              <a:t> </a:t>
            </a:r>
            <a:r>
              <a:rPr spc="220" dirty="0"/>
              <a:t>Cases</a:t>
            </a:r>
            <a:r>
              <a:rPr spc="-340" dirty="0"/>
              <a:t> </a:t>
            </a:r>
            <a:r>
              <a:rPr lang="en-IN" spc="-340" dirty="0"/>
              <a:t>&amp;</a:t>
            </a:r>
            <a:r>
              <a:rPr spc="-340" dirty="0"/>
              <a:t> </a:t>
            </a:r>
            <a:r>
              <a:rPr spc="45" dirty="0"/>
              <a:t>Impact</a:t>
            </a:r>
            <a:endParaRPr spc="45" dirty="0"/>
          </a:p>
        </p:txBody>
      </p:sp>
      <p:pic>
        <p:nvPicPr>
          <p:cNvPr id="4" name="object 4"/>
          <p:cNvPicPr/>
          <p:nvPr/>
        </p:nvPicPr>
        <p:blipFill>
          <a:blip r:embed="rId2" cstate="print"/>
          <a:stretch>
            <a:fillRect/>
          </a:stretch>
        </p:blipFill>
        <p:spPr>
          <a:xfrm>
            <a:off x="1912610" y="2816046"/>
            <a:ext cx="104775" cy="104774"/>
          </a:xfrm>
          <a:prstGeom prst="rect">
            <a:avLst/>
          </a:prstGeom>
        </p:spPr>
      </p:pic>
      <p:pic>
        <p:nvPicPr>
          <p:cNvPr id="5" name="object 5"/>
          <p:cNvPicPr/>
          <p:nvPr/>
        </p:nvPicPr>
        <p:blipFill>
          <a:blip r:embed="rId2" cstate="print"/>
          <a:stretch>
            <a:fillRect/>
          </a:stretch>
        </p:blipFill>
        <p:spPr>
          <a:xfrm>
            <a:off x="1912610" y="3235146"/>
            <a:ext cx="104775" cy="104774"/>
          </a:xfrm>
          <a:prstGeom prst="rect">
            <a:avLst/>
          </a:prstGeom>
        </p:spPr>
      </p:pic>
      <p:pic>
        <p:nvPicPr>
          <p:cNvPr id="6" name="object 6"/>
          <p:cNvPicPr/>
          <p:nvPr/>
        </p:nvPicPr>
        <p:blipFill>
          <a:blip r:embed="rId2" cstate="print"/>
          <a:stretch>
            <a:fillRect/>
          </a:stretch>
        </p:blipFill>
        <p:spPr>
          <a:xfrm>
            <a:off x="1912610" y="3654245"/>
            <a:ext cx="104775" cy="104774"/>
          </a:xfrm>
          <a:prstGeom prst="rect">
            <a:avLst/>
          </a:prstGeom>
        </p:spPr>
      </p:pic>
      <p:pic>
        <p:nvPicPr>
          <p:cNvPr id="7" name="object 7"/>
          <p:cNvPicPr/>
          <p:nvPr/>
        </p:nvPicPr>
        <p:blipFill>
          <a:blip r:embed="rId2" cstate="print"/>
          <a:stretch>
            <a:fillRect/>
          </a:stretch>
        </p:blipFill>
        <p:spPr>
          <a:xfrm>
            <a:off x="1912610" y="4073345"/>
            <a:ext cx="104775" cy="104774"/>
          </a:xfrm>
          <a:prstGeom prst="rect">
            <a:avLst/>
          </a:prstGeom>
        </p:spPr>
      </p:pic>
      <p:pic>
        <p:nvPicPr>
          <p:cNvPr id="8" name="object 8"/>
          <p:cNvPicPr/>
          <p:nvPr/>
        </p:nvPicPr>
        <p:blipFill>
          <a:blip r:embed="rId2" cstate="print"/>
          <a:stretch>
            <a:fillRect/>
          </a:stretch>
        </p:blipFill>
        <p:spPr>
          <a:xfrm>
            <a:off x="1912610" y="4492445"/>
            <a:ext cx="104775" cy="104774"/>
          </a:xfrm>
          <a:prstGeom prst="rect">
            <a:avLst/>
          </a:prstGeom>
        </p:spPr>
      </p:pic>
      <p:sp>
        <p:nvSpPr>
          <p:cNvPr id="9" name="object 9"/>
          <p:cNvSpPr txBox="1"/>
          <p:nvPr/>
        </p:nvSpPr>
        <p:spPr>
          <a:xfrm>
            <a:off x="2176135" y="2602749"/>
            <a:ext cx="4133215" cy="2125980"/>
          </a:xfrm>
          <a:prstGeom prst="rect">
            <a:avLst/>
          </a:prstGeom>
        </p:spPr>
        <p:txBody>
          <a:bodyPr vert="horz" wrap="square" lIns="0" tIns="16510" rIns="0" bIns="0" rtlCol="0">
            <a:spAutoFit/>
          </a:bodyPr>
          <a:lstStyle/>
          <a:p>
            <a:pPr marL="12700">
              <a:lnSpc>
                <a:spcPct val="100000"/>
              </a:lnSpc>
              <a:spcBef>
                <a:spcPts val="130"/>
              </a:spcBef>
              <a:spcAft>
                <a:spcPts val="1979"/>
              </a:spcAft>
            </a:pPr>
            <a:r>
              <a:rPr sz="1100" b="0">
                <a:solidFill>
                  <a:srgbClr val="FFFFFF"/>
                </a:solidFill>
                <a:latin typeface="Trebuchet MS"/>
              </a:rPr>
              <a:t>A QR scan shows what is available</a:t>
            </a:r>
            <a:endParaRPr sz="2750">
              <a:latin typeface="Trebuchet MS" panose="020B0603020202020204"/>
              <a:cs typeface="Trebuchet MS" panose="020B0603020202020204"/>
            </a:endParaRPr>
          </a:p>
          <a:p>
            <a:pPr>
              <a:spcAft>
                <a:spcPts val="1979"/>
              </a:spcAft>
            </a:pPr>
            <a:r>
              <a:rPr sz="1100" b="0">
                <a:solidFill>
                  <a:srgbClr val="FFFFFF"/>
                </a:solidFill>
                <a:latin typeface="Trebuchet MS"/>
              </a:rPr>
              <a:t>Seven roles, enforced in Postgres</a:t>
            </a:r>
          </a:p>
          <a:p>
            <a:pPr>
              <a:spcAft>
                <a:spcPts val="1979"/>
              </a:spcAft>
            </a:pPr>
            <a:r>
              <a:rPr sz="1100" b="0">
                <a:solidFill>
                  <a:srgbClr val="FFFFFF"/>
                </a:solidFill>
                <a:latin typeface="Trebuchet MS"/>
              </a:rPr>
              <a:t>Independent restaurants; multi-tenant</a:t>
            </a:r>
          </a:p>
          <a:p>
            <a:pPr>
              <a:spcAft>
                <a:spcPts val="1979"/>
              </a:spcAft>
            </a:pPr>
            <a:r>
              <a:rPr sz="1100" b="0">
                <a:solidFill>
                  <a:srgbClr val="FFFFFF"/>
                </a:solidFill>
                <a:latin typeface="Trebuchet MS"/>
              </a:rPr>
              <a:t>Less waste, honest waiting times</a:t>
            </a:r>
          </a:p>
          <a:p>
            <a:pPr>
              <a:spcAft>
                <a:spcPts val="1979"/>
              </a:spcAft>
            </a:pPr>
            <a:r>
              <a:rPr sz="1100" b="0">
                <a:solidFill>
                  <a:srgbClr val="FFFFFF"/>
                </a:solidFill>
                <a:latin typeface="Trebuchet MS"/>
              </a:rPr>
              <a:t>Every figure comes from the ledger</a:t>
            </a:r>
          </a:p>
        </p:txBody>
      </p:sp>
      <p:pic>
        <p:nvPicPr>
          <p:cNvPr id="10" name="object 10"/>
          <p:cNvPicPr/>
          <p:nvPr/>
        </p:nvPicPr>
        <p:blipFill>
          <a:blip r:embed="rId3" cstate="print"/>
          <a:stretch>
            <a:fillRect/>
          </a:stretch>
        </p:blipFill>
        <p:spPr>
          <a:xfrm>
            <a:off x="99688" y="0"/>
            <a:ext cx="1485899" cy="1057274"/>
          </a:xfrm>
          <a:prstGeom prst="rect">
            <a:avLst/>
          </a:prstGeom>
        </p:spPr>
      </p:pic>
      <p:sp>
        <p:nvSpPr>
          <p:cNvPr id="11" name="object 11"/>
          <p:cNvSpPr txBox="1"/>
          <p:nvPr/>
        </p:nvSpPr>
        <p:spPr>
          <a:xfrm>
            <a:off x="447614" y="244532"/>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solidFill>
                  <a:srgbClr val="FFFFFF"/>
                </a:solidFill>
                <a:latin typeface="Trebuchet MS"/>
              </a:rPr>
              <a:t>bishalranabr7</a:t>
            </a:r>
            <a:endParaRPr sz="1100">
              <a:latin typeface="Trebuchet MS" panose="020B0603020202020204"/>
              <a:cs typeface="Trebuchet MS" panose="020B0603020202020204"/>
            </a:endParaRP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pic>
        <p:nvPicPr>
          <p:cNvPr id="3" name="object 3"/>
          <p:cNvPicPr/>
          <p:nvPr/>
        </p:nvPicPr>
        <p:blipFill>
          <a:blip r:embed="rId2" cstate="print"/>
          <a:stretch>
            <a:fillRect/>
          </a:stretch>
        </p:blipFill>
        <p:spPr>
          <a:xfrm>
            <a:off x="41271" y="3171"/>
            <a:ext cx="1485899" cy="1057274"/>
          </a:xfrm>
          <a:prstGeom prst="rect">
            <a:avLst/>
          </a:prstGeom>
        </p:spPr>
      </p:pic>
      <p:sp>
        <p:nvSpPr>
          <p:cNvPr id="4" name="object 4"/>
          <p:cNvSpPr txBox="1"/>
          <p:nvPr/>
        </p:nvSpPr>
        <p:spPr>
          <a:xfrm>
            <a:off x="423425" y="301631"/>
            <a:ext cx="770890" cy="425450"/>
          </a:xfrm>
          <a:prstGeom prst="rect">
            <a:avLst/>
          </a:prstGeom>
        </p:spPr>
        <p:txBody>
          <a:bodyPr vert="horz" wrap="square" lIns="0" tIns="44450" rIns="0" bIns="0" rtlCol="0">
            <a:spAutoFit/>
          </a:bodyPr>
          <a:lstStyle/>
          <a:p>
            <a:pPr algn="ctr">
              <a:lnSpc>
                <a:spcPct val="100000"/>
              </a:lnSpc>
              <a:spcBef>
                <a:spcPts val="350"/>
              </a:spcBef>
              <a:spcAft>
                <a:spcPts val="200"/>
              </a:spcAft>
            </a:pPr>
            <a:r>
              <a:rPr sz="1000" b="0">
                <a:solidFill>
                  <a:srgbClr val="FFFFFF"/>
                </a:solidFill>
                <a:latin typeface="Trebuchet MS"/>
              </a:rPr>
              <a:t>bishalranabr7</a:t>
            </a:r>
            <a:endParaRPr sz="1100">
              <a:latin typeface="Trebuchet MS" panose="020B0603020202020204"/>
              <a:cs typeface="Trebuchet MS" panose="020B0603020202020204"/>
            </a:endParaRPr>
          </a:p>
        </p:txBody>
      </p:sp>
      <p:sp>
        <p:nvSpPr>
          <p:cNvPr id="5" name="object 5" descr="$PPTXTitle"/>
          <p:cNvSpPr txBox="1">
            <a:spLocks noGrp="1"/>
          </p:cNvSpPr>
          <p:nvPr>
            <p:ph type="title"/>
          </p:nvPr>
        </p:nvSpPr>
        <p:spPr>
          <a:xfrm>
            <a:off x="1796975" y="57702"/>
            <a:ext cx="8805545" cy="624205"/>
          </a:xfrm>
          <a:prstGeom prst="rect">
            <a:avLst/>
          </a:prstGeom>
        </p:spPr>
        <p:txBody>
          <a:bodyPr vert="horz" wrap="square" lIns="0" tIns="16510" rIns="0" bIns="0" rtlCol="0">
            <a:spAutoFit/>
          </a:bodyPr>
          <a:lstStyle/>
          <a:p>
            <a:pPr marL="1360170">
              <a:lnSpc>
                <a:spcPct val="100000"/>
              </a:lnSpc>
              <a:spcBef>
                <a:spcPts val="130"/>
              </a:spcBef>
            </a:pPr>
            <a:r>
              <a:rPr spc="-114" dirty="0"/>
              <a:t>Future</a:t>
            </a:r>
            <a:r>
              <a:rPr spc="-345" dirty="0"/>
              <a:t> </a:t>
            </a:r>
            <a:r>
              <a:rPr spc="95" dirty="0"/>
              <a:t>Scope</a:t>
            </a:r>
            <a:r>
              <a:rPr spc="-345" dirty="0"/>
              <a:t> </a:t>
            </a:r>
            <a:r>
              <a:rPr lang="en-IN" spc="-345" dirty="0"/>
              <a:t>&amp; </a:t>
            </a:r>
            <a:r>
              <a:rPr spc="60" dirty="0"/>
              <a:t>Conclusion</a:t>
            </a:r>
            <a:endParaRPr spc="60" dirty="0"/>
          </a:p>
        </p:txBody>
      </p:sp>
      <p:pic>
        <p:nvPicPr>
          <p:cNvPr id="6" name="object 6"/>
          <p:cNvPicPr/>
          <p:nvPr/>
        </p:nvPicPr>
        <p:blipFill>
          <a:blip r:embed="rId3" cstate="print"/>
          <a:stretch>
            <a:fillRect/>
          </a:stretch>
        </p:blipFill>
        <p:spPr>
          <a:xfrm>
            <a:off x="1854193" y="2433887"/>
            <a:ext cx="104775" cy="104774"/>
          </a:xfrm>
          <a:prstGeom prst="rect">
            <a:avLst/>
          </a:prstGeom>
        </p:spPr>
      </p:pic>
      <p:pic>
        <p:nvPicPr>
          <p:cNvPr id="7" name="object 7"/>
          <p:cNvPicPr/>
          <p:nvPr/>
        </p:nvPicPr>
        <p:blipFill>
          <a:blip r:embed="rId3" cstate="print"/>
          <a:stretch>
            <a:fillRect/>
          </a:stretch>
        </p:blipFill>
        <p:spPr>
          <a:xfrm>
            <a:off x="1854193" y="2852987"/>
            <a:ext cx="104775" cy="104774"/>
          </a:xfrm>
          <a:prstGeom prst="rect">
            <a:avLst/>
          </a:prstGeom>
        </p:spPr>
      </p:pic>
      <p:pic>
        <p:nvPicPr>
          <p:cNvPr id="8" name="object 8"/>
          <p:cNvPicPr/>
          <p:nvPr/>
        </p:nvPicPr>
        <p:blipFill>
          <a:blip r:embed="rId3" cstate="print"/>
          <a:stretch>
            <a:fillRect/>
          </a:stretch>
        </p:blipFill>
        <p:spPr>
          <a:xfrm>
            <a:off x="1854193" y="3272087"/>
            <a:ext cx="104775" cy="104774"/>
          </a:xfrm>
          <a:prstGeom prst="rect">
            <a:avLst/>
          </a:prstGeom>
        </p:spPr>
      </p:pic>
      <p:pic>
        <p:nvPicPr>
          <p:cNvPr id="9" name="object 9"/>
          <p:cNvPicPr/>
          <p:nvPr/>
        </p:nvPicPr>
        <p:blipFill>
          <a:blip r:embed="rId3" cstate="print"/>
          <a:stretch>
            <a:fillRect/>
          </a:stretch>
        </p:blipFill>
        <p:spPr>
          <a:xfrm>
            <a:off x="1854193" y="3691187"/>
            <a:ext cx="104775" cy="104774"/>
          </a:xfrm>
          <a:prstGeom prst="rect">
            <a:avLst/>
          </a:prstGeom>
        </p:spPr>
      </p:pic>
      <p:pic>
        <p:nvPicPr>
          <p:cNvPr id="10" name="object 10"/>
          <p:cNvPicPr/>
          <p:nvPr/>
        </p:nvPicPr>
        <p:blipFill>
          <a:blip r:embed="rId3" cstate="print"/>
          <a:stretch>
            <a:fillRect/>
          </a:stretch>
        </p:blipFill>
        <p:spPr>
          <a:xfrm>
            <a:off x="1854193" y="4110287"/>
            <a:ext cx="104775" cy="104774"/>
          </a:xfrm>
          <a:prstGeom prst="rect">
            <a:avLst/>
          </a:prstGeom>
        </p:spPr>
      </p:pic>
      <p:sp>
        <p:nvSpPr>
          <p:cNvPr id="11" name="object 11"/>
          <p:cNvSpPr txBox="1"/>
          <p:nvPr/>
        </p:nvSpPr>
        <p:spPr>
          <a:xfrm>
            <a:off x="2117718" y="2220591"/>
            <a:ext cx="3841115" cy="2132330"/>
          </a:xfrm>
          <a:prstGeom prst="rect">
            <a:avLst/>
          </a:prstGeom>
        </p:spPr>
        <p:txBody>
          <a:bodyPr vert="horz" wrap="square" lIns="0" tIns="16510" rIns="0" bIns="0" rtlCol="0">
            <a:spAutoFit/>
          </a:bodyPr>
          <a:lstStyle/>
          <a:p>
            <a:pPr marL="12700" marR="5080">
              <a:lnSpc>
                <a:spcPct val="100000"/>
              </a:lnSpc>
              <a:spcBef>
                <a:spcPts val="130"/>
              </a:spcBef>
              <a:spcAft>
                <a:spcPts val="1980"/>
              </a:spcAft>
            </a:pPr>
            <a:r>
              <a:rPr sz="1100" b="0">
                <a:solidFill>
                  <a:srgbClr val="FFFFFF"/>
                </a:solidFill>
                <a:latin typeface="Trebuchet MS"/>
              </a:rPr>
              <a:t>Surface notifications, recommendations</a:t>
            </a:r>
            <a:endParaRPr sz="2750">
              <a:latin typeface="Trebuchet MS" panose="020B0603020202020204"/>
              <a:cs typeface="Trebuchet MS" panose="020B0603020202020204"/>
            </a:endParaRPr>
          </a:p>
          <a:p>
            <a:pPr>
              <a:spcAft>
                <a:spcPts val="1980"/>
              </a:spcAft>
            </a:pPr>
            <a:r>
              <a:rPr sz="1100" b="0">
                <a:solidFill>
                  <a:srgbClr val="FFFFFF"/>
                </a:solidFill>
                <a:latin typeface="Trebuchet MS"/>
              </a:rPr>
              <a:t>Supplier APIs, payments, accounting</a:t>
            </a:r>
          </a:p>
          <a:p>
            <a:pPr>
              <a:spcAft>
                <a:spcPts val="1980"/>
              </a:spcAft>
            </a:pPr>
            <a:r>
              <a:rPr sz="1100" b="0">
                <a:solidFill>
                  <a:srgbClr val="FFFFFF"/>
                </a:solidFill>
                <a:latin typeface="Trebuchet MS"/>
              </a:rPr>
              <a:t>Multi-tenant — a second site is a row</a:t>
            </a:r>
          </a:p>
          <a:p>
            <a:pPr>
              <a:spcAft>
                <a:spcPts val="1980"/>
              </a:spcAft>
            </a:pPr>
            <a:r>
              <a:rPr sz="1100" b="0">
                <a:solidFill>
                  <a:srgbClr val="FFFFFF"/>
                </a:solidFill>
                <a:latin typeface="Trebuchet MS"/>
              </a:rPr>
              <a:t>Runway suits any perishable stock</a:t>
            </a:r>
          </a:p>
          <a:p>
            <a:pPr>
              <a:spcAft>
                <a:spcPts val="1980"/>
              </a:spcAft>
            </a:pPr>
            <a:r>
              <a:rPr sz="1100" b="0">
                <a:solidFill>
                  <a:srgbClr val="FFFFFF"/>
                </a:solidFill>
                <a:latin typeface="Trebuchet MS"/>
              </a:rPr>
              <a:t>Tills say a dish IS out. We say when.</a:t>
            </a: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943</Words>
  <Application>WPS Presentation</Application>
  <PresentationFormat>On-screen Show (4:3)</PresentationFormat>
  <Paragraphs>47</Paragraphs>
  <Slides>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6</vt:i4>
      </vt:variant>
    </vt:vector>
  </HeadingPairs>
  <TitlesOfParts>
    <vt:vector size="15" baseType="lpstr">
      <vt:lpstr>Arial</vt:lpstr>
      <vt:lpstr>SimSun</vt:lpstr>
      <vt:lpstr>Wingdings</vt:lpstr>
      <vt:lpstr>Trebuchet MS</vt:lpstr>
      <vt:lpstr>Verdana</vt:lpstr>
      <vt:lpstr>Microsoft YaHei</vt:lpstr>
      <vt:lpstr>Arial Unicode MS</vt:lpstr>
      <vt:lpstr>Calibri</vt:lpstr>
      <vt:lpstr>Office Theme</vt:lpstr>
      <vt:lpstr>Vibeathon 6.0 (Vibecoding Hackathon) – July 2026</vt:lpstr>
      <vt:lpstr>CURRENT PROBLEM</vt:lpstr>
      <vt:lpstr>Proposed Solution</vt:lpstr>
      <vt:lpstr>TECHNICAL APPROACH</vt:lpstr>
      <vt:lpstr>Use Cases G Impact</vt:lpstr>
      <vt:lpstr>Future Scope &amp; Conclusion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Vibeathon 6.0 (Vibecoding Hackathon) – July 2026</dc:title>
  <dc:creator>Lee Sec</dc:creator>
  <cp:keywords>DAHQjN5IPOU,BAHIPLeaaAA</cp:keywords>
  <cp:lastModifiedBy>MANDAPALLI DEVA SAI NANDINI</cp:lastModifiedBy>
  <cp:revision>6</cp:revision>
  <dcterms:created xsi:type="dcterms:W3CDTF">2026-07-27T04:32:00Z</dcterms:created>
  <dcterms:modified xsi:type="dcterms:W3CDTF">2026-07-27T04:35:42Z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2026-07-27T16:30:00Z</vt:filetime>
  </property>
  <property fmtid="{D5CDD505-2E9C-101B-9397-08002B2CF9AE}" pid="4" name="Creator">
    <vt:lpwstr>Canva</vt:lpwstr>
  </property>
  <property fmtid="{D5CDD505-2E9C-101B-9397-08002B2CF9AE}" pid="5" name="LastSaved">
    <vt:filetime>2026-07-27T16:30:00Z</vt:filetime>
  </property>
  <property fmtid="{D5CDD505-2E9C-101B-9397-08002B2CF9AE}" pid="6" name="Producer">
    <vt:lpwstr>Canva</vt:lpwstr>
  </property>
  <property fmtid="{D5CDD505-2E9C-101B-9397-08002B2CF9AE}" pid="7" name="ICV">
    <vt:lpwstr>44537F3519F14E1DB72381EB7E4BE5DD_12</vt:lpwstr>
  </property>
  <property fmtid="{D5CDD505-2E9C-101B-9397-08002B2CF9AE}" pid="8" name="KSOProductBuildVer">
    <vt:lpwstr>1033-12.1.0.27458</vt:lpwstr>
  </property>
</Properties>
</file>